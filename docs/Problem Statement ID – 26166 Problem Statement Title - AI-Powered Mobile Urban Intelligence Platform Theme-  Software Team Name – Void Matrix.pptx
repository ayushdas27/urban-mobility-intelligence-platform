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4" r:id="rId7"/>
  </p:sldIdLst>
  <p:sldSz cx="18288000" cy="10287000"/>
  <p:notesSz cx="6858000" cy="9144000"/>
  <p:embeddedFontLst>
    <p:embeddedFont>
      <p:font typeface="Aptos Bold" panose="020B0604020202020204" charset="0"/>
      <p:regular r:id="rId8"/>
    </p:embeddedFont>
    <p:embeddedFont>
      <p:font typeface="Arial Black" panose="020B0A04020102020204" pitchFamily="34" charset="0"/>
      <p:bold r:id="rId9"/>
    </p:embeddedFont>
    <p:embeddedFont>
      <p:font typeface="Arial Bold" panose="020B0704020202020204" pitchFamily="34" charset="0"/>
      <p:regular r:id="rId10"/>
      <p:bold r:id="rId11"/>
    </p:embeddedFon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Garamond" panose="02020404030301010803" pitchFamily="18" charset="0"/>
      <p:regular r:id="rId14"/>
      <p:bold r:id="rId15"/>
      <p:italic r:id="rId16"/>
    </p:embeddedFont>
    <p:embeddedFont>
      <p:font typeface="Garamond Bold" panose="02020804030307010803" pitchFamily="18" charset="0"/>
      <p:regular r:id="rId17"/>
      <p:bold r:id="rId18"/>
    </p:embeddedFont>
    <p:embeddedFont>
      <p:font typeface="Raleway Bold" panose="020B0604020202020204" charset="0"/>
      <p:regular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Bold" panose="02000000000000000000" charset="0"/>
      <p:regular r:id="rId24"/>
    </p:embeddedFont>
    <p:embeddedFont>
      <p:font typeface="Segoe UI Semibold" panose="020B0702040204020203" pitchFamily="34" charset="0"/>
      <p:bold r:id="rId25"/>
      <p:boldItalic r:id="rId26"/>
    </p:embeddedFont>
    <p:embeddedFont>
      <p:font typeface="Segoe UI Variable Small Semibol" pitchFamily="2" charset="0"/>
      <p:bold r:id="rId27"/>
    </p:embeddedFont>
    <p:embeddedFont>
      <p:font typeface="Times New Roman Bold" panose="02020803070505020304" pitchFamily="18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presProps" Target="presProps.xml"/><Relationship Id="rId8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-19050"/>
            <a:ext cx="13716000" cy="10287000"/>
            <a:chOff x="0" y="0"/>
            <a:chExt cx="1828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13716000"/>
            </a:xfrm>
            <a:custGeom>
              <a:avLst/>
              <a:gdLst/>
              <a:ahLst/>
              <a:cxnLst/>
              <a:rect l="l" t="t" r="r" b="b"/>
              <a:pathLst>
                <a:path w="18288000" h="13716000">
                  <a:moveTo>
                    <a:pt x="0" y="0"/>
                  </a:moveTo>
                  <a:lnTo>
                    <a:pt x="18288000" y="0"/>
                  </a:lnTo>
                  <a:lnTo>
                    <a:pt x="1828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0103653" y="173330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1868179" y="3180369"/>
            <a:ext cx="4805267" cy="5139357"/>
            <a:chOff x="0" y="0"/>
            <a:chExt cx="6407023" cy="68524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1600" y="0"/>
            <a:ext cx="15544800" cy="2628900"/>
            <a:chOff x="0" y="0"/>
            <a:chExt cx="20726400" cy="3505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26400" cy="3505202"/>
            </a:xfrm>
            <a:custGeom>
              <a:avLst/>
              <a:gdLst/>
              <a:ahLst/>
              <a:cxnLst/>
              <a:rect l="l" t="t" r="r" b="b"/>
              <a:pathLst>
                <a:path w="20726400" h="3505202">
                  <a:moveTo>
                    <a:pt x="0" y="0"/>
                  </a:moveTo>
                  <a:lnTo>
                    <a:pt x="20726400" y="0"/>
                  </a:lnTo>
                  <a:lnTo>
                    <a:pt x="20726400" y="3505202"/>
                  </a:lnTo>
                  <a:lnTo>
                    <a:pt x="0" y="35052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215" b="-6521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20726400" cy="3448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832"/>
                </a:lnSpc>
              </a:pPr>
              <a:r>
                <a:rPr lang="en-US" sz="5400" b="1">
                  <a:solidFill>
                    <a:srgbClr val="0E2841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93178" y="1916458"/>
            <a:ext cx="11446421" cy="5698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endParaRPr dirty="0"/>
          </a:p>
          <a:p>
            <a:pPr marL="570071" lvl="1" indent="-285036" algn="l">
              <a:lnSpc>
                <a:spcPts val="7559"/>
              </a:lnSpc>
              <a:buFont typeface="Arial"/>
              <a:buChar char="•"/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26124</a:t>
            </a:r>
          </a:p>
          <a:p>
            <a:pPr marL="570071" lvl="1" indent="-285036">
              <a:lnSpc>
                <a:spcPts val="7559"/>
              </a:lnSpc>
              <a:buFont typeface="Arial"/>
              <a:buChar char="•"/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– AI-Powered Mobile Urban</a:t>
            </a:r>
            <a:b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</a:b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Intelligence Platform Using public Transport Fleet.</a:t>
            </a:r>
          </a:p>
          <a:p>
            <a:pPr marL="570071" lvl="1" indent="-285036">
              <a:lnSpc>
                <a:spcPts val="3779"/>
              </a:lnSpc>
              <a:buFont typeface="Arial"/>
              <a:buChar char="•"/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– Smart Automation</a:t>
            </a:r>
          </a:p>
          <a:p>
            <a:pPr marL="570071" lvl="1" indent="-285036">
              <a:lnSpc>
                <a:spcPts val="7559"/>
              </a:lnSpc>
              <a:buFont typeface="Arial"/>
              <a:buChar char="•"/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– Software</a:t>
            </a:r>
          </a:p>
          <a:p>
            <a:pPr marL="570071" lvl="1" indent="-285036" algn="l">
              <a:lnSpc>
                <a:spcPts val="7559"/>
              </a:lnSpc>
              <a:buFont typeface="Arial"/>
              <a:buChar char="•"/>
            </a:pPr>
            <a:r>
              <a:rPr lang="en-US" sz="31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– Void Matrix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191870" y="257794"/>
            <a:ext cx="2963132" cy="1234640"/>
            <a:chOff x="0" y="0"/>
            <a:chExt cx="3950843" cy="16461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50843" cy="1646174"/>
            </a:xfrm>
            <a:custGeom>
              <a:avLst/>
              <a:gdLst/>
              <a:ahLst/>
              <a:cxnLst/>
              <a:rect l="l" t="t" r="r" b="b"/>
              <a:pathLst>
                <a:path w="3950843" h="1646174">
                  <a:moveTo>
                    <a:pt x="0" y="0"/>
                  </a:moveTo>
                  <a:lnTo>
                    <a:pt x="3950843" y="0"/>
                  </a:lnTo>
                  <a:lnTo>
                    <a:pt x="3950843" y="1646174"/>
                  </a:lnTo>
                  <a:lnTo>
                    <a:pt x="0" y="1646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1576" y="538496"/>
            <a:ext cx="2963132" cy="411356"/>
            <a:chOff x="0" y="0"/>
            <a:chExt cx="3950843" cy="5484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50843" cy="548513"/>
            </a:xfrm>
            <a:custGeom>
              <a:avLst/>
              <a:gdLst/>
              <a:ahLst/>
              <a:cxnLst/>
              <a:rect l="l" t="t" r="r" b="b"/>
              <a:pathLst>
                <a:path w="3950843" h="548513">
                  <a:moveTo>
                    <a:pt x="0" y="0"/>
                  </a:moveTo>
                  <a:lnTo>
                    <a:pt x="3950843" y="0"/>
                  </a:lnTo>
                  <a:lnTo>
                    <a:pt x="3950843" y="548513"/>
                  </a:lnTo>
                  <a:lnTo>
                    <a:pt x="0" y="548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88262" y="336471"/>
            <a:ext cx="15798660" cy="8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>
                <a:solidFill>
                  <a:srgbClr val="032848"/>
                </a:solidFill>
                <a:latin typeface="Garamond" panose="02020404030301010803" pitchFamily="18" charset="0"/>
                <a:ea typeface="Garamond Bold"/>
                <a:cs typeface="Garamond Bold"/>
                <a:sym typeface="Garamond Bold"/>
              </a:rPr>
              <a:t>The Problem Statement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61576" y="538496"/>
            <a:ext cx="2963132" cy="411356"/>
            <a:chOff x="0" y="0"/>
            <a:chExt cx="3950843" cy="5484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50843" cy="548513"/>
            </a:xfrm>
            <a:custGeom>
              <a:avLst/>
              <a:gdLst/>
              <a:ahLst/>
              <a:cxnLst/>
              <a:rect l="l" t="t" r="r" b="b"/>
              <a:pathLst>
                <a:path w="3950843" h="548513">
                  <a:moveTo>
                    <a:pt x="0" y="0"/>
                  </a:moveTo>
                  <a:lnTo>
                    <a:pt x="3950843" y="0"/>
                  </a:lnTo>
                  <a:lnTo>
                    <a:pt x="3950843" y="548513"/>
                  </a:lnTo>
                  <a:lnTo>
                    <a:pt x="0" y="548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91870" y="257794"/>
            <a:ext cx="2963132" cy="1234640"/>
            <a:chOff x="0" y="0"/>
            <a:chExt cx="3950843" cy="16461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50843" cy="1646174"/>
            </a:xfrm>
            <a:custGeom>
              <a:avLst/>
              <a:gdLst/>
              <a:ahLst/>
              <a:cxnLst/>
              <a:rect l="l" t="t" r="r" b="b"/>
              <a:pathLst>
                <a:path w="3950843" h="1646174">
                  <a:moveTo>
                    <a:pt x="0" y="0"/>
                  </a:moveTo>
                  <a:lnTo>
                    <a:pt x="3950843" y="0"/>
                  </a:lnTo>
                  <a:lnTo>
                    <a:pt x="3950843" y="1646174"/>
                  </a:lnTo>
                  <a:lnTo>
                    <a:pt x="0" y="1646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791201" y="3724889"/>
            <a:ext cx="6620946" cy="6562111"/>
          </a:xfrm>
          <a:custGeom>
            <a:avLst/>
            <a:gdLst/>
            <a:ahLst/>
            <a:cxnLst/>
            <a:rect l="l" t="t" r="r" b="b"/>
            <a:pathLst>
              <a:path w="6371611" h="6371611">
                <a:moveTo>
                  <a:pt x="0" y="0"/>
                </a:moveTo>
                <a:lnTo>
                  <a:pt x="6371612" y="0"/>
                </a:lnTo>
                <a:lnTo>
                  <a:pt x="6371612" y="6371611"/>
                </a:lnTo>
                <a:lnTo>
                  <a:pt x="0" y="6371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-411937" y="3724889"/>
            <a:ext cx="6934200" cy="6562111"/>
          </a:xfrm>
          <a:custGeom>
            <a:avLst/>
            <a:gdLst/>
            <a:ahLst/>
            <a:cxnLst/>
            <a:rect l="l" t="t" r="r" b="b"/>
            <a:pathLst>
              <a:path w="6371611" h="6371611">
                <a:moveTo>
                  <a:pt x="0" y="0"/>
                </a:moveTo>
                <a:lnTo>
                  <a:pt x="6371611" y="0"/>
                </a:lnTo>
                <a:lnTo>
                  <a:pt x="6371611" y="6371611"/>
                </a:lnTo>
                <a:lnTo>
                  <a:pt x="0" y="6371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854484" y="1527557"/>
            <a:ext cx="16799738" cy="290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sz="3536" b="1" spc="-53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Cities Are Flying Blind</a:t>
            </a:r>
          </a:p>
          <a:p>
            <a:pPr algn="l">
              <a:lnSpc>
                <a:spcPts val="4583"/>
              </a:lnSpc>
            </a:pPr>
            <a:r>
              <a:rPr lang="en-US" sz="3536" spc="-53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Today's urban infrastructure monitoring relies on fixed CCTV, manual inspections, and citizen complaints, a fragmented, reactive system that leaves cities perpetually behind the curve.</a:t>
            </a:r>
          </a:p>
          <a:p>
            <a:pPr algn="l">
              <a:lnSpc>
                <a:spcPts val="4583"/>
              </a:lnSpc>
            </a:pPr>
            <a:endParaRPr lang="en-US" sz="3536" spc="-53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3561" y="4888273"/>
            <a:ext cx="5302294" cy="442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8"/>
              </a:lnSpc>
            </a:pPr>
            <a:r>
              <a:rPr lang="en-US" sz="339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Delayed Response</a:t>
            </a:r>
          </a:p>
          <a:p>
            <a:pPr algn="l">
              <a:lnSpc>
                <a:spcPts val="4398"/>
              </a:lnSpc>
            </a:pPr>
            <a:r>
              <a:rPr lang="en-US" sz="3394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Road defects, congestion, and unsafe behavior go undetected until they cause accidents or costly damage.</a:t>
            </a:r>
          </a:p>
          <a:p>
            <a:pPr algn="l">
              <a:lnSpc>
                <a:spcPts val="4398"/>
              </a:lnSpc>
            </a:pPr>
            <a:endParaRPr lang="en-US" sz="339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398"/>
              </a:lnSpc>
            </a:pPr>
            <a:endParaRPr lang="en-US" sz="3394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72914" y="4911399"/>
            <a:ext cx="5243477" cy="5036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93"/>
              </a:lnSpc>
            </a:pPr>
            <a:r>
              <a:rPr lang="en-US" sz="339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Wasted Assets</a:t>
            </a:r>
          </a:p>
          <a:p>
            <a:pPr algn="l">
              <a:lnSpc>
                <a:spcPts val="4393"/>
              </a:lnSpc>
            </a:pPr>
            <a:r>
              <a:rPr lang="en-US" sz="339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Bus fleets traverse every major road daily with multi-camera systems, yet cameras only record incidents instead of actively sensing infrastructure. </a:t>
            </a:r>
          </a:p>
          <a:p>
            <a:pPr algn="l">
              <a:lnSpc>
                <a:spcPts val="4393"/>
              </a:lnSpc>
            </a:pPr>
            <a:endParaRPr lang="en-US" sz="339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4393"/>
              </a:lnSpc>
            </a:pPr>
            <a:endParaRPr lang="en-US" sz="339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1582401" y="3619501"/>
            <a:ext cx="6691782" cy="6667500"/>
          </a:xfrm>
          <a:custGeom>
            <a:avLst/>
            <a:gdLst/>
            <a:ahLst/>
            <a:cxnLst/>
            <a:rect l="l" t="t" r="r" b="b"/>
            <a:pathLst>
              <a:path w="6371611" h="6371611">
                <a:moveTo>
                  <a:pt x="0" y="0"/>
                </a:moveTo>
                <a:lnTo>
                  <a:pt x="6371611" y="0"/>
                </a:lnTo>
                <a:lnTo>
                  <a:pt x="6371611" y="6371611"/>
                </a:lnTo>
                <a:lnTo>
                  <a:pt x="0" y="6371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2624199" y="4898699"/>
            <a:ext cx="5042723" cy="387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3"/>
              </a:lnSpc>
            </a:pPr>
            <a:r>
              <a:rPr lang="en-US" sz="339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Incomplete Awareness</a:t>
            </a:r>
          </a:p>
          <a:p>
            <a:pPr algn="l">
              <a:lnSpc>
                <a:spcPts val="4393"/>
              </a:lnSpc>
            </a:pPr>
            <a:r>
              <a:rPr lang="en-US" sz="339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single platform aggregates road condition, traffic, and safety data into a unified city intelligence layer.</a:t>
            </a:r>
          </a:p>
          <a:p>
            <a:pPr algn="l">
              <a:lnSpc>
                <a:spcPts val="4393"/>
              </a:lnSpc>
            </a:pPr>
            <a:endParaRPr lang="en-US" sz="339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9310" y="307381"/>
            <a:ext cx="16303114" cy="175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5400" b="1" spc="-102" dirty="0">
                <a:solidFill>
                  <a:srgbClr val="032848"/>
                </a:solidFill>
                <a:latin typeface="Garamond Bold"/>
                <a:ea typeface="Garamond Bold"/>
                <a:cs typeface="Garamond Bold"/>
                <a:sym typeface="Garamond Bold"/>
              </a:rPr>
              <a:t>The Solution: Buses as Mobile Sensors</a:t>
            </a:r>
          </a:p>
          <a:p>
            <a:pPr algn="ctr">
              <a:lnSpc>
                <a:spcPts val="6998"/>
              </a:lnSpc>
            </a:pPr>
            <a:endParaRPr lang="en-US" sz="5400" b="1" spc="-102" dirty="0">
              <a:solidFill>
                <a:srgbClr val="032848"/>
              </a:solidFill>
              <a:latin typeface="Garamond Bold"/>
              <a:ea typeface="Garamond Bold"/>
              <a:cs typeface="Garamond Bold"/>
              <a:sym typeface="Garamond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207274" y="565852"/>
            <a:ext cx="2809580" cy="390039"/>
            <a:chOff x="0" y="0"/>
            <a:chExt cx="3746106" cy="520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46119" cy="520065"/>
            </a:xfrm>
            <a:custGeom>
              <a:avLst/>
              <a:gdLst/>
              <a:ahLst/>
              <a:cxnLst/>
              <a:rect l="l" t="t" r="r" b="b"/>
              <a:pathLst>
                <a:path w="3746119" h="520065">
                  <a:moveTo>
                    <a:pt x="0" y="0"/>
                  </a:moveTo>
                  <a:lnTo>
                    <a:pt x="3746119" y="0"/>
                  </a:lnTo>
                  <a:lnTo>
                    <a:pt x="3746119" y="520065"/>
                  </a:lnTo>
                  <a:lnTo>
                    <a:pt x="0" y="520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372750" y="175536"/>
            <a:ext cx="2809580" cy="1170661"/>
            <a:chOff x="0" y="0"/>
            <a:chExt cx="3746106" cy="15608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46119" cy="1560830"/>
            </a:xfrm>
            <a:custGeom>
              <a:avLst/>
              <a:gdLst/>
              <a:ahLst/>
              <a:cxnLst/>
              <a:rect l="l" t="t" r="r" b="b"/>
              <a:pathLst>
                <a:path w="3746119" h="1560830">
                  <a:moveTo>
                    <a:pt x="0" y="0"/>
                  </a:moveTo>
                  <a:lnTo>
                    <a:pt x="3746119" y="0"/>
                  </a:lnTo>
                  <a:lnTo>
                    <a:pt x="3746119" y="1560830"/>
                  </a:lnTo>
                  <a:lnTo>
                    <a:pt x="0" y="156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7274" y="1533891"/>
            <a:ext cx="17704440" cy="1356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sz="2960" dirty="0">
                <a:solidFill>
                  <a:srgbClr val="2D323A"/>
                </a:solidFill>
                <a:latin typeface="Arimo"/>
                <a:ea typeface="Arimo"/>
                <a:cs typeface="Arimo"/>
                <a:sym typeface="Arimo"/>
              </a:rPr>
              <a:t>Every bus becomes an intelligent node, continuously sensing, </a:t>
            </a:r>
          </a:p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sz="2960" dirty="0">
                <a:solidFill>
                  <a:srgbClr val="2D323A"/>
                </a:solidFill>
                <a:latin typeface="Arimo"/>
                <a:ea typeface="Arimo"/>
                <a:cs typeface="Arimo"/>
                <a:sym typeface="Arimo"/>
              </a:rPr>
              <a:t>analyzing, and reporting on the city around it.</a:t>
            </a:r>
          </a:p>
          <a:p>
            <a:pPr algn="ctr">
              <a:lnSpc>
                <a:spcPts val="3552"/>
              </a:lnSpc>
              <a:spcBef>
                <a:spcPct val="0"/>
              </a:spcBef>
            </a:pPr>
            <a:endParaRPr lang="en-US" sz="2960" dirty="0">
              <a:solidFill>
                <a:srgbClr val="2D323A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7086600"/>
            <a:ext cx="5715000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Edge AI Onboard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Real-time video analysis detects potholes, cracks, waterlogging, missing infrastructure, and vulnerable pedestrian situations, processed directly on the bus</a:t>
            </a:r>
            <a:r>
              <a:rPr lang="en-US" sz="30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43700" y="7086600"/>
            <a:ext cx="5715000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Vehicle Intelligence</a:t>
            </a:r>
          </a:p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Detects rash driving and hit-and-run incidents, extracts license plates with GPS coordinates and timestamps for law enforcement integration.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58700" y="7086600"/>
            <a:ext cx="5715000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Centralized Platform</a:t>
            </a:r>
          </a:p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Fleet data aggregated into GIS dashboards, congestion heatmaps, and actionable maintenance alerts for city operators.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3B5C7F-A5AC-ED38-7C87-E3589736C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10" y="2586000"/>
            <a:ext cx="5863101" cy="40938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57728F-BD28-35AC-FBD5-F6217954C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2926557"/>
            <a:ext cx="5053124" cy="38369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F50FB-C5B6-4C14-4CE4-69E0185B3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0" y="2931788"/>
            <a:ext cx="4849790" cy="38119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392" y="28299"/>
            <a:ext cx="2739219" cy="380267"/>
            <a:chOff x="0" y="0"/>
            <a:chExt cx="3652291" cy="50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2266" cy="506984"/>
            </a:xfrm>
            <a:custGeom>
              <a:avLst/>
              <a:gdLst/>
              <a:ahLst/>
              <a:cxnLst/>
              <a:rect l="l" t="t" r="r" b="b"/>
              <a:pathLst>
                <a:path w="3652266" h="506984">
                  <a:moveTo>
                    <a:pt x="0" y="0"/>
                  </a:moveTo>
                  <a:lnTo>
                    <a:pt x="3652266" y="0"/>
                  </a:lnTo>
                  <a:lnTo>
                    <a:pt x="3652266" y="506984"/>
                  </a:lnTo>
                  <a:lnTo>
                    <a:pt x="0" y="506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07596" y="-54713"/>
            <a:ext cx="3005804" cy="1252423"/>
            <a:chOff x="0" y="0"/>
            <a:chExt cx="4007739" cy="16698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7739" cy="1669923"/>
            </a:xfrm>
            <a:custGeom>
              <a:avLst/>
              <a:gdLst/>
              <a:ahLst/>
              <a:cxnLst/>
              <a:rect l="l" t="t" r="r" b="b"/>
              <a:pathLst>
                <a:path w="4007739" h="1669923">
                  <a:moveTo>
                    <a:pt x="0" y="0"/>
                  </a:moveTo>
                  <a:lnTo>
                    <a:pt x="4007739" y="0"/>
                  </a:lnTo>
                  <a:lnTo>
                    <a:pt x="4007739" y="1669923"/>
                  </a:lnTo>
                  <a:lnTo>
                    <a:pt x="0" y="1669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0355" y="1473617"/>
            <a:ext cx="5154319" cy="3649262"/>
            <a:chOff x="0" y="0"/>
            <a:chExt cx="19594597" cy="23310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594623" cy="2331085"/>
            </a:xfrm>
            <a:custGeom>
              <a:avLst/>
              <a:gdLst/>
              <a:ahLst/>
              <a:cxnLst/>
              <a:rect l="l" t="t" r="r" b="b"/>
              <a:pathLst>
                <a:path w="19594623" h="2331085">
                  <a:moveTo>
                    <a:pt x="0" y="137287"/>
                  </a:moveTo>
                  <a:cubicBezTo>
                    <a:pt x="0" y="61468"/>
                    <a:pt x="95467" y="0"/>
                    <a:pt x="213223" y="0"/>
                  </a:cubicBezTo>
                  <a:lnTo>
                    <a:pt x="19381414" y="0"/>
                  </a:lnTo>
                  <a:cubicBezTo>
                    <a:pt x="19499168" y="0"/>
                    <a:pt x="19594623" y="61468"/>
                    <a:pt x="19594623" y="137287"/>
                  </a:cubicBezTo>
                  <a:lnTo>
                    <a:pt x="19594623" y="2193798"/>
                  </a:lnTo>
                  <a:cubicBezTo>
                    <a:pt x="19594623" y="2269617"/>
                    <a:pt x="19499168" y="2331085"/>
                    <a:pt x="19381414" y="2331085"/>
                  </a:cubicBezTo>
                  <a:lnTo>
                    <a:pt x="213223" y="2331085"/>
                  </a:lnTo>
                  <a:cubicBezTo>
                    <a:pt x="95467" y="2331085"/>
                    <a:pt x="0" y="2269617"/>
                    <a:pt x="0" y="2193798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1239" y="2346651"/>
            <a:ext cx="5465875" cy="1877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Per-bus subscription model at </a:t>
            </a:r>
            <a:b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IN" sz="3200" dirty="0"/>
              <a:t>₹</a:t>
            </a:r>
            <a:r>
              <a:rPr lang="en-US" sz="30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1000/Month–</a:t>
            </a:r>
            <a:r>
              <a:rPr lang="en-IN" sz="3200" dirty="0"/>
              <a:t>₹</a:t>
            </a:r>
            <a:r>
              <a:rPr lang="en-US" sz="30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10K/bus/year</a:t>
            </a: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scales linearly with fleet size, predictable ARR from day one.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378643" y="1509970"/>
            <a:ext cx="5465874" cy="3693663"/>
            <a:chOff x="0" y="0"/>
            <a:chExt cx="19594597" cy="23310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594623" cy="2331085"/>
            </a:xfrm>
            <a:custGeom>
              <a:avLst/>
              <a:gdLst/>
              <a:ahLst/>
              <a:cxnLst/>
              <a:rect l="l" t="t" r="r" b="b"/>
              <a:pathLst>
                <a:path w="19594623" h="2331085">
                  <a:moveTo>
                    <a:pt x="0" y="137287"/>
                  </a:moveTo>
                  <a:cubicBezTo>
                    <a:pt x="0" y="61468"/>
                    <a:pt x="95467" y="0"/>
                    <a:pt x="213223" y="0"/>
                  </a:cubicBezTo>
                  <a:lnTo>
                    <a:pt x="19381414" y="0"/>
                  </a:lnTo>
                  <a:cubicBezTo>
                    <a:pt x="19499168" y="0"/>
                    <a:pt x="19594623" y="61468"/>
                    <a:pt x="19594623" y="137287"/>
                  </a:cubicBezTo>
                  <a:lnTo>
                    <a:pt x="19594623" y="2193798"/>
                  </a:lnTo>
                  <a:cubicBezTo>
                    <a:pt x="19594623" y="2269617"/>
                    <a:pt x="19499168" y="2331085"/>
                    <a:pt x="19381414" y="2331085"/>
                  </a:cubicBezTo>
                  <a:lnTo>
                    <a:pt x="213223" y="2331085"/>
                  </a:lnTo>
                  <a:cubicBezTo>
                    <a:pt x="95467" y="2331085"/>
                    <a:pt x="0" y="2269617"/>
                    <a:pt x="0" y="2193798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051532" y="1699006"/>
            <a:ext cx="4591809" cy="447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Maintenance  Savings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83970" y="2346651"/>
            <a:ext cx="5368902" cy="2260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64"/>
              </a:lnSpc>
            </a:pP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Proactive road repair scheduling reduces emergency infrastructure costs by </a:t>
            </a:r>
            <a:r>
              <a:rPr lang="en-US" sz="30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40–60%</a:t>
            </a: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 city clients.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86632" y="5405607"/>
            <a:ext cx="5154326" cy="3707815"/>
            <a:chOff x="0" y="0"/>
            <a:chExt cx="19594597" cy="23310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594623" cy="2331085"/>
            </a:xfrm>
            <a:custGeom>
              <a:avLst/>
              <a:gdLst/>
              <a:ahLst/>
              <a:cxnLst/>
              <a:rect l="l" t="t" r="r" b="b"/>
              <a:pathLst>
                <a:path w="19594623" h="2331085">
                  <a:moveTo>
                    <a:pt x="0" y="137287"/>
                  </a:moveTo>
                  <a:cubicBezTo>
                    <a:pt x="0" y="61468"/>
                    <a:pt x="95467" y="0"/>
                    <a:pt x="213223" y="0"/>
                  </a:cubicBezTo>
                  <a:lnTo>
                    <a:pt x="19381414" y="0"/>
                  </a:lnTo>
                  <a:cubicBezTo>
                    <a:pt x="19499168" y="0"/>
                    <a:pt x="19594623" y="61468"/>
                    <a:pt x="19594623" y="137287"/>
                  </a:cubicBezTo>
                  <a:lnTo>
                    <a:pt x="19594623" y="2193798"/>
                  </a:lnTo>
                  <a:cubicBezTo>
                    <a:pt x="19594623" y="2269617"/>
                    <a:pt x="19499168" y="2331085"/>
                    <a:pt x="19381414" y="2331085"/>
                  </a:cubicBezTo>
                  <a:lnTo>
                    <a:pt x="213223" y="2331085"/>
                  </a:lnTo>
                  <a:cubicBezTo>
                    <a:pt x="95467" y="2331085"/>
                    <a:pt x="0" y="2269617"/>
                    <a:pt x="0" y="2193798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5584" y="5533177"/>
            <a:ext cx="3623370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Traffic Optimization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8000" y="6226204"/>
            <a:ext cx="4439409" cy="2260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64"/>
              </a:lnSpc>
            </a:pP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Congestion intelligence improves route efficiency and reduces municipal fuel costs by </a:t>
            </a:r>
            <a:r>
              <a:rPr lang="en-US" sz="30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15–25%</a:t>
            </a: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435480" y="5409662"/>
            <a:ext cx="5465881" cy="3741860"/>
            <a:chOff x="0" y="0"/>
            <a:chExt cx="19554492" cy="23310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554518" cy="2331085"/>
            </a:xfrm>
            <a:custGeom>
              <a:avLst/>
              <a:gdLst/>
              <a:ahLst/>
              <a:cxnLst/>
              <a:rect l="l" t="t" r="r" b="b"/>
              <a:pathLst>
                <a:path w="19554518" h="2331085">
                  <a:moveTo>
                    <a:pt x="0" y="137287"/>
                  </a:moveTo>
                  <a:cubicBezTo>
                    <a:pt x="0" y="61468"/>
                    <a:pt x="95272" y="0"/>
                    <a:pt x="212787" y="0"/>
                  </a:cubicBezTo>
                  <a:lnTo>
                    <a:pt x="19341745" y="0"/>
                  </a:lnTo>
                  <a:cubicBezTo>
                    <a:pt x="19459259" y="0"/>
                    <a:pt x="19554518" y="61468"/>
                    <a:pt x="19554518" y="137287"/>
                  </a:cubicBezTo>
                  <a:lnTo>
                    <a:pt x="19554518" y="2193798"/>
                  </a:lnTo>
                  <a:cubicBezTo>
                    <a:pt x="19554518" y="2269617"/>
                    <a:pt x="19459259" y="2331085"/>
                    <a:pt x="19341745" y="2331085"/>
                  </a:cubicBezTo>
                  <a:lnTo>
                    <a:pt x="212787" y="2331085"/>
                  </a:lnTo>
                  <a:cubicBezTo>
                    <a:pt x="95272" y="2331085"/>
                    <a:pt x="0" y="2269617"/>
                    <a:pt x="0" y="2193798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053243" y="5735884"/>
            <a:ext cx="4508705" cy="447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Safety &amp; Compliance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25400" y="6213683"/>
            <a:ext cx="4403100" cy="2837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64"/>
              </a:lnSpc>
            </a:pP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Hit-and-run detection and incident evidence reduce city liability exposure and unlock </a:t>
            </a:r>
            <a:r>
              <a:rPr lang="en-US" sz="30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insurance cost reductions</a:t>
            </a: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876" y="1657983"/>
            <a:ext cx="4961114" cy="447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SaaS  Licensing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1999" y="266700"/>
            <a:ext cx="16185773" cy="1765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4400" b="1" spc="-103" dirty="0">
                <a:solidFill>
                  <a:srgbClr val="032848"/>
                </a:solidFill>
                <a:latin typeface="Garamond Bold"/>
                <a:ea typeface="Garamond Bold"/>
                <a:cs typeface="Garamond Bold"/>
                <a:sym typeface="Garamond Bold"/>
              </a:rPr>
              <a:t>Revenue Streams, ROI, Market Traction &amp; Deployment</a:t>
            </a:r>
          </a:p>
          <a:p>
            <a:pPr algn="ctr">
              <a:lnSpc>
                <a:spcPts val="6998"/>
              </a:lnSpc>
            </a:pPr>
            <a:endParaRPr lang="en-US" sz="5400" b="1" spc="-103" dirty="0">
              <a:solidFill>
                <a:srgbClr val="032848"/>
              </a:solidFill>
              <a:latin typeface="Garamond Bold"/>
              <a:ea typeface="Garamond Bold"/>
              <a:cs typeface="Garamond Bold"/>
              <a:sym typeface="Garamond Bol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F75A80-21E0-8211-D7D8-A03932450069}"/>
              </a:ext>
            </a:extLst>
          </p:cNvPr>
          <p:cNvSpPr txBox="1"/>
          <p:nvPr/>
        </p:nvSpPr>
        <p:spPr>
          <a:xfrm>
            <a:off x="5639306" y="1488973"/>
            <a:ext cx="5565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B1B27"/>
                </a:solidFill>
                <a:latin typeface="Arial Black" panose="020B0A04020102020204" pitchFamily="34" charset="0"/>
                <a:ea typeface="Open Sans Semibold" panose="020B0706030804020204" pitchFamily="34" charset="0"/>
                <a:cs typeface="Open Sans Semibold" panose="020B0706030804020204" pitchFamily="34" charset="0"/>
                <a:sym typeface="Raleway Bold"/>
              </a:rPr>
              <a:t>Target Markets</a:t>
            </a:r>
          </a:p>
          <a:p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5875CB-0C6D-C425-C0B5-E508E049250A}"/>
              </a:ext>
            </a:extLst>
          </p:cNvPr>
          <p:cNvSpPr txBox="1"/>
          <p:nvPr/>
        </p:nvSpPr>
        <p:spPr>
          <a:xfrm>
            <a:off x="5709548" y="2093141"/>
            <a:ext cx="63833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C3939"/>
                </a:solidFill>
                <a:latin typeface="Segoe UI Variable Small Semibol" pitchFamily="2" charset="0"/>
                <a:ea typeface="Roboto"/>
                <a:cs typeface="Roboto"/>
                <a:sym typeface="Roboto"/>
              </a:rPr>
              <a:t>We are targeting </a:t>
            </a:r>
            <a:r>
              <a:rPr lang="en-US" sz="2400" b="1" dirty="0">
                <a:solidFill>
                  <a:srgbClr val="3C3939"/>
                </a:solidFill>
                <a:latin typeface="Segoe UI Variable Small Semibol" pitchFamily="2" charset="0"/>
                <a:ea typeface="Roboto Bold"/>
                <a:cs typeface="Roboto Bold"/>
                <a:sym typeface="Roboto Bold"/>
              </a:rPr>
              <a:t>mid-size cities with 500–2,000 bus fleets</a:t>
            </a:r>
            <a:r>
              <a:rPr lang="en-US" sz="2400" dirty="0">
                <a:solidFill>
                  <a:srgbClr val="3C3939"/>
                </a:solidFill>
                <a:latin typeface="Segoe UI Variable Small Semibol" pitchFamily="2" charset="0"/>
                <a:ea typeface="Roboto"/>
                <a:cs typeface="Roboto"/>
                <a:sym typeface="Roboto"/>
              </a:rPr>
              <a:t> across Asia, Africa, and Latin America, markets with high infrastructure needs, government smart city mandates, and lower competitive density than mature Western markets.</a:t>
            </a:r>
          </a:p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80A2CA-5D93-DCA7-4C4F-505F071EA50D}"/>
              </a:ext>
            </a:extLst>
          </p:cNvPr>
          <p:cNvSpPr txBox="1"/>
          <p:nvPr/>
        </p:nvSpPr>
        <p:spPr>
          <a:xfrm>
            <a:off x="5753893" y="5352817"/>
            <a:ext cx="4191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B1B27"/>
                </a:solidFill>
                <a:latin typeface="Arial Black" panose="020B0A04020102020204" pitchFamily="34" charset="0"/>
                <a:ea typeface="Raleway Bold"/>
                <a:cs typeface="Raleway Bold"/>
                <a:sym typeface="Raleway Bold"/>
              </a:rPr>
              <a:t>Go-to-Market Approach</a:t>
            </a:r>
          </a:p>
          <a:p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7A09C7-AFCE-FCEB-DF20-4CA24C5BAA7B}"/>
              </a:ext>
            </a:extLst>
          </p:cNvPr>
          <p:cNvSpPr txBox="1"/>
          <p:nvPr/>
        </p:nvSpPr>
        <p:spPr>
          <a:xfrm>
            <a:off x="5753893" y="5973641"/>
            <a:ext cx="59188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C3939"/>
                </a:solidFill>
                <a:latin typeface="Segoe UI Semibold" panose="020B0702040204020203" pitchFamily="34" charset="0"/>
                <a:ea typeface="Roboto"/>
                <a:cs typeface="Segoe UI Semibold" panose="020B0702040204020203" pitchFamily="34" charset="0"/>
                <a:sym typeface="Roboto"/>
              </a:rPr>
              <a:t>Municipal transport authority partnerships provide fleet access, data rights, and government co-investment, reducing customer acquisition cost and accelerating regulatory approval.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9D9F95-3EEA-42F6-9E46-C0F85AF783FB}"/>
              </a:ext>
            </a:extLst>
          </p:cNvPr>
          <p:cNvSpPr txBox="1"/>
          <p:nvPr/>
        </p:nvSpPr>
        <p:spPr>
          <a:xfrm>
            <a:off x="288018" y="9334500"/>
            <a:ext cx="173866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 Black" panose="020B0A04020102020204" pitchFamily="34" charset="0"/>
                <a:ea typeface="Arimo"/>
                <a:cs typeface="Arimo"/>
                <a:sym typeface="Arimo"/>
              </a:rPr>
              <a:t>YOLOv8 fusion achieving 93.3% recall and 94.53% F1 score — a 6.5% improvement over standalone methods</a:t>
            </a:r>
            <a:endParaRPr lang="en-IN" sz="28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8112" y="517465"/>
            <a:ext cx="2739219" cy="380267"/>
            <a:chOff x="0" y="0"/>
            <a:chExt cx="3652291" cy="507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2266" cy="506984"/>
            </a:xfrm>
            <a:custGeom>
              <a:avLst/>
              <a:gdLst/>
              <a:ahLst/>
              <a:cxnLst/>
              <a:rect l="l" t="t" r="r" b="b"/>
              <a:pathLst>
                <a:path w="3652266" h="506984">
                  <a:moveTo>
                    <a:pt x="0" y="0"/>
                  </a:moveTo>
                  <a:lnTo>
                    <a:pt x="3652266" y="0"/>
                  </a:lnTo>
                  <a:lnTo>
                    <a:pt x="3652266" y="506984"/>
                  </a:lnTo>
                  <a:lnTo>
                    <a:pt x="0" y="506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994084" y="146609"/>
            <a:ext cx="3005804" cy="1252423"/>
            <a:chOff x="0" y="0"/>
            <a:chExt cx="4007739" cy="16698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07739" cy="1669923"/>
            </a:xfrm>
            <a:custGeom>
              <a:avLst/>
              <a:gdLst/>
              <a:ahLst/>
              <a:cxnLst/>
              <a:rect l="l" t="t" r="r" b="b"/>
              <a:pathLst>
                <a:path w="4007739" h="1669923">
                  <a:moveTo>
                    <a:pt x="0" y="0"/>
                  </a:moveTo>
                  <a:lnTo>
                    <a:pt x="4007739" y="0"/>
                  </a:lnTo>
                  <a:lnTo>
                    <a:pt x="4007739" y="1669923"/>
                  </a:lnTo>
                  <a:lnTo>
                    <a:pt x="0" y="1669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9310" y="307381"/>
            <a:ext cx="16303114" cy="86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5400" b="1" spc="-103" dirty="0">
                <a:solidFill>
                  <a:srgbClr val="032848"/>
                </a:solidFill>
                <a:latin typeface="Garamond" panose="02020404030301010803" pitchFamily="18" charset="0"/>
                <a:ea typeface="Garamond Bold"/>
                <a:cs typeface="Garamond Bold"/>
                <a:sym typeface="Garamond Bold"/>
              </a:rPr>
              <a:t>SDG 11 Alignment: Sustainable Cities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6721" y="1661384"/>
            <a:ext cx="9772279" cy="447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1" dirty="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rPr>
              <a:t>Built for UN Sustainable Development Goal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7558" y="1847503"/>
            <a:ext cx="16711016" cy="20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8"/>
              </a:lnSpc>
            </a:pPr>
            <a:endParaRPr dirty="0"/>
          </a:p>
          <a:p>
            <a:pPr algn="l">
              <a:lnSpc>
                <a:spcPts val="4068"/>
              </a:lnSpc>
            </a:pPr>
            <a:r>
              <a:rPr lang="en-US" sz="3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Our platform directly advances SDG 11 targets, making cities inclusive, safe, resilient, and sustainable through technology that already exists in every bus fleet.</a:t>
            </a:r>
          </a:p>
          <a:p>
            <a:pPr algn="l">
              <a:lnSpc>
                <a:spcPts val="4068"/>
              </a:lnSpc>
            </a:pPr>
            <a:endParaRPr lang="en-US" sz="3000" dirty="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4159792"/>
            <a:ext cx="3217813" cy="56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3"/>
              </a:lnSpc>
            </a:pPr>
            <a:r>
              <a:rPr lang="en-US" sz="3576" b="1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Safe Transport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506864"/>
            <a:ext cx="4754042" cy="4346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endParaRPr/>
          </a:p>
          <a:p>
            <a:pPr algn="l">
              <a:lnSpc>
                <a:spcPts val="4340"/>
              </a:lnSpc>
            </a:pPr>
            <a:r>
              <a:rPr lang="en-US" sz="32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Detects unsafe driving and pedestrian hazards in real time, directly advancing SDG 11.2's mandate to improve road safety and access to safe transport for all by 2030.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23120" y="4159792"/>
            <a:ext cx="5380434" cy="56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3"/>
              </a:lnSpc>
            </a:pPr>
            <a:r>
              <a:rPr lang="en-US" sz="3576" b="1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Infrastructure Resilience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23120" y="4506864"/>
            <a:ext cx="4754042" cy="382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endParaRPr dirty="0"/>
          </a:p>
          <a:p>
            <a:pPr algn="l">
              <a:lnSpc>
                <a:spcPts val="4340"/>
              </a:lnSpc>
            </a:pPr>
            <a:r>
              <a:rPr lang="en-US" sz="3201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Proactive maintenance extends road life and reduces emergency repair costs, building the durable urban infrastructure SDG 11 demands.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85200" y="4159792"/>
            <a:ext cx="3811786" cy="56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3"/>
              </a:lnSpc>
            </a:pPr>
            <a:r>
              <a:rPr lang="en-US" sz="3576" b="1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Inclusive Mobility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17063" y="4506864"/>
            <a:ext cx="4754042" cy="3260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endParaRPr/>
          </a:p>
          <a:p>
            <a:pPr algn="l">
              <a:lnSpc>
                <a:spcPts val="4340"/>
              </a:lnSpc>
            </a:pPr>
            <a:r>
              <a:rPr lang="en-US" sz="32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Improved traffic flow and safety raise public transport reliability for elderly, disabled, and low-income populations.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2B972F-CE6E-7F35-C86D-DE576ADD1506}"/>
              </a:ext>
            </a:extLst>
          </p:cNvPr>
          <p:cNvCxnSpPr>
            <a:cxnSpLocks/>
          </p:cNvCxnSpPr>
          <p:nvPr/>
        </p:nvCxnSpPr>
        <p:spPr>
          <a:xfrm>
            <a:off x="6038631" y="3902617"/>
            <a:ext cx="0" cy="49509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8D86AB-9C4A-99BA-C159-4411D82ACDF9}"/>
              </a:ext>
            </a:extLst>
          </p:cNvPr>
          <p:cNvCxnSpPr>
            <a:cxnSpLocks/>
          </p:cNvCxnSpPr>
          <p:nvPr/>
        </p:nvCxnSpPr>
        <p:spPr>
          <a:xfrm>
            <a:off x="12344400" y="3902617"/>
            <a:ext cx="0" cy="49509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88262" y="288846"/>
            <a:ext cx="15798660" cy="96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5400" b="1" spc="-84" dirty="0">
                <a:solidFill>
                  <a:srgbClr val="032848"/>
                </a:solidFill>
                <a:latin typeface="Garamond Bold"/>
                <a:ea typeface="Garamond Bold"/>
                <a:cs typeface="Garamond Bold"/>
                <a:sym typeface="Garamond Bold"/>
              </a:rPr>
              <a:t>Research Work &amp; 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662" y="1862328"/>
            <a:ext cx="7974311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5400" b="1" spc="-5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Focus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2682" y="1862328"/>
            <a:ext cx="7974454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5400" b="1" spc="-5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Datasets &amp; Validation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68657" y="2810818"/>
            <a:ext cx="7974454" cy="164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sz="345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Tested on RDD2022; achieves 95.8% precision, 93.3% recall, and 27ms latency.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73766" y="5882202"/>
            <a:ext cx="7974311" cy="74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5400" b="1" spc="-5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Methods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5954" y="6733899"/>
            <a:ext cx="7974311" cy="1691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1"/>
              </a:lnSpc>
            </a:pPr>
            <a:r>
              <a:rPr lang="en-US" sz="345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Lightweight YOLOv8 (</a:t>
            </a:r>
            <a:r>
              <a:rPr lang="en-US" sz="345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GhostConv</a:t>
            </a:r>
            <a:r>
              <a:rPr lang="en-US" sz="345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/attention), ByteTRACK, ANPR, and GPS-GIS telemetry sync.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03899" y="5922826"/>
            <a:ext cx="7974454" cy="53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5400" b="1" spc="-5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References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87592" y="6968557"/>
            <a:ext cx="7974454" cy="164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sz="345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Arya et al. (RDD2022 Dataset), Zeng &amp; Zhong (YOLOv8 Road Detection), Zheng et al. (Urban Computing)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191870" y="257794"/>
            <a:ext cx="2963132" cy="1234640"/>
            <a:chOff x="0" y="0"/>
            <a:chExt cx="3950843" cy="16461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50843" cy="1646174"/>
            </a:xfrm>
            <a:custGeom>
              <a:avLst/>
              <a:gdLst/>
              <a:ahLst/>
              <a:cxnLst/>
              <a:rect l="l" t="t" r="r" b="b"/>
              <a:pathLst>
                <a:path w="3950843" h="1646174">
                  <a:moveTo>
                    <a:pt x="0" y="0"/>
                  </a:moveTo>
                  <a:lnTo>
                    <a:pt x="3950843" y="0"/>
                  </a:lnTo>
                  <a:lnTo>
                    <a:pt x="3950843" y="1646174"/>
                  </a:lnTo>
                  <a:lnTo>
                    <a:pt x="0" y="1646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98106" y="5791962"/>
            <a:ext cx="8353425" cy="3567112"/>
            <a:chOff x="0" y="0"/>
            <a:chExt cx="11137900" cy="4756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37900" cy="4756150"/>
            </a:xfrm>
            <a:custGeom>
              <a:avLst/>
              <a:gdLst/>
              <a:ahLst/>
              <a:cxnLst/>
              <a:rect l="l" t="t" r="r" b="b"/>
              <a:pathLst>
                <a:path w="11137900" h="4756150">
                  <a:moveTo>
                    <a:pt x="0" y="0"/>
                  </a:moveTo>
                  <a:lnTo>
                    <a:pt x="11137900" y="0"/>
                  </a:lnTo>
                  <a:lnTo>
                    <a:pt x="11137900" y="4756150"/>
                  </a:lnTo>
                  <a:lnTo>
                    <a:pt x="0" y="4756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8" r="-4788"/>
              </a:stretch>
            </a:blipFill>
            <a:ln w="38100" cap="sq">
              <a:solidFill>
                <a:srgbClr val="174973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4059" y="1710295"/>
            <a:ext cx="8276206" cy="3565446"/>
            <a:chOff x="0" y="0"/>
            <a:chExt cx="11034941" cy="47539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34903" cy="4753864"/>
            </a:xfrm>
            <a:custGeom>
              <a:avLst/>
              <a:gdLst/>
              <a:ahLst/>
              <a:cxnLst/>
              <a:rect l="l" t="t" r="r" b="b"/>
              <a:pathLst>
                <a:path w="11034903" h="4753864">
                  <a:moveTo>
                    <a:pt x="0" y="0"/>
                  </a:moveTo>
                  <a:lnTo>
                    <a:pt x="11034903" y="0"/>
                  </a:lnTo>
                  <a:lnTo>
                    <a:pt x="11034903" y="4753864"/>
                  </a:lnTo>
                  <a:lnTo>
                    <a:pt x="0" y="4753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74" r="-5274" b="-1"/>
              </a:stretch>
            </a:blipFill>
            <a:ln w="38100" cap="sq">
              <a:solidFill>
                <a:srgbClr val="17497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9976" y="5791962"/>
            <a:ext cx="8353425" cy="3567112"/>
            <a:chOff x="-4215640" y="3693738"/>
            <a:chExt cx="11137900" cy="4756150"/>
          </a:xfrm>
        </p:grpSpPr>
        <p:sp>
          <p:nvSpPr>
            <p:cNvPr id="17" name="Freeform 17"/>
            <p:cNvSpPr/>
            <p:nvPr/>
          </p:nvSpPr>
          <p:spPr>
            <a:xfrm>
              <a:off x="-4215640" y="3693738"/>
              <a:ext cx="11137900" cy="4756150"/>
            </a:xfrm>
            <a:custGeom>
              <a:avLst/>
              <a:gdLst/>
              <a:ahLst/>
              <a:cxnLst/>
              <a:rect l="l" t="t" r="r" b="b"/>
              <a:pathLst>
                <a:path w="11137900" h="4756150">
                  <a:moveTo>
                    <a:pt x="0" y="0"/>
                  </a:moveTo>
                  <a:lnTo>
                    <a:pt x="11137900" y="0"/>
                  </a:lnTo>
                  <a:lnTo>
                    <a:pt x="11137900" y="4756150"/>
                  </a:lnTo>
                  <a:lnTo>
                    <a:pt x="0" y="4756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8" r="-4788"/>
              </a:stretch>
            </a:blipFill>
            <a:ln w="38100" cap="sq">
              <a:solidFill>
                <a:srgbClr val="174973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14414" y="1710295"/>
            <a:ext cx="8353425" cy="3565398"/>
            <a:chOff x="-2438400" y="-2802725"/>
            <a:chExt cx="11137900" cy="4753864"/>
          </a:xfrm>
        </p:grpSpPr>
        <p:sp>
          <p:nvSpPr>
            <p:cNvPr id="19" name="Freeform 19"/>
            <p:cNvSpPr/>
            <p:nvPr/>
          </p:nvSpPr>
          <p:spPr>
            <a:xfrm>
              <a:off x="-2438400" y="-2802725"/>
              <a:ext cx="11137900" cy="4753864"/>
            </a:xfrm>
            <a:custGeom>
              <a:avLst/>
              <a:gdLst/>
              <a:ahLst/>
              <a:cxnLst/>
              <a:rect l="l" t="t" r="r" b="b"/>
              <a:pathLst>
                <a:path w="11137900" h="4753864">
                  <a:moveTo>
                    <a:pt x="0" y="0"/>
                  </a:moveTo>
                  <a:lnTo>
                    <a:pt x="11137900" y="0"/>
                  </a:lnTo>
                  <a:lnTo>
                    <a:pt x="11137900" y="4753864"/>
                  </a:lnTo>
                  <a:lnTo>
                    <a:pt x="0" y="4753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63" r="-4763" b="-1"/>
              </a:stretch>
            </a:blipFill>
            <a:ln w="38100" cap="sq">
              <a:solidFill>
                <a:srgbClr val="174973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61576" y="538496"/>
            <a:ext cx="2963132" cy="411356"/>
            <a:chOff x="0" y="0"/>
            <a:chExt cx="3950843" cy="5484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50843" cy="548513"/>
            </a:xfrm>
            <a:custGeom>
              <a:avLst/>
              <a:gdLst/>
              <a:ahLst/>
              <a:cxnLst/>
              <a:rect l="l" t="t" r="r" b="b"/>
              <a:pathLst>
                <a:path w="3950843" h="548513">
                  <a:moveTo>
                    <a:pt x="0" y="0"/>
                  </a:moveTo>
                  <a:lnTo>
                    <a:pt x="3950843" y="0"/>
                  </a:lnTo>
                  <a:lnTo>
                    <a:pt x="3950843" y="548513"/>
                  </a:lnTo>
                  <a:lnTo>
                    <a:pt x="0" y="548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2473" y="1867138"/>
            <a:ext cx="1149534" cy="929002"/>
            <a:chOff x="0" y="0"/>
            <a:chExt cx="1532712" cy="1238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32763" cy="1238631"/>
            </a:xfrm>
            <a:custGeom>
              <a:avLst/>
              <a:gdLst/>
              <a:ahLst/>
              <a:cxnLst/>
              <a:rect l="l" t="t" r="r" b="b"/>
              <a:pathLst>
                <a:path w="1532763" h="1238631">
                  <a:moveTo>
                    <a:pt x="0" y="0"/>
                  </a:moveTo>
                  <a:lnTo>
                    <a:pt x="1532763" y="0"/>
                  </a:lnTo>
                  <a:lnTo>
                    <a:pt x="1532763" y="1238631"/>
                  </a:lnTo>
                  <a:lnTo>
                    <a:pt x="0" y="1238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524" r="-342218" b="-27845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89774" y="1800330"/>
            <a:ext cx="1308259" cy="946394"/>
            <a:chOff x="0" y="0"/>
            <a:chExt cx="1744345" cy="12618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44345" cy="1261872"/>
            </a:xfrm>
            <a:custGeom>
              <a:avLst/>
              <a:gdLst/>
              <a:ahLst/>
              <a:cxnLst/>
              <a:rect l="l" t="t" r="r" b="b"/>
              <a:pathLst>
                <a:path w="1744345" h="1261872">
                  <a:moveTo>
                    <a:pt x="0" y="0"/>
                  </a:moveTo>
                  <a:lnTo>
                    <a:pt x="1744345" y="0"/>
                  </a:lnTo>
                  <a:lnTo>
                    <a:pt x="1744345" y="1261872"/>
                  </a:lnTo>
                  <a:lnTo>
                    <a:pt x="0" y="1261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636" t="5015" r="-102745" b="-27030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2473" y="5791962"/>
            <a:ext cx="1038701" cy="951614"/>
            <a:chOff x="0" y="0"/>
            <a:chExt cx="1384935" cy="1268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84935" cy="1268857"/>
            </a:xfrm>
            <a:custGeom>
              <a:avLst/>
              <a:gdLst/>
              <a:ahLst/>
              <a:cxnLst/>
              <a:rect l="l" t="t" r="r" b="b"/>
              <a:pathLst>
                <a:path w="1384935" h="1268857">
                  <a:moveTo>
                    <a:pt x="0" y="0"/>
                  </a:moveTo>
                  <a:lnTo>
                    <a:pt x="1384935" y="0"/>
                  </a:lnTo>
                  <a:lnTo>
                    <a:pt x="1384935" y="1268857"/>
                  </a:lnTo>
                  <a:lnTo>
                    <a:pt x="0" y="1268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6992" t="12095" r="-247407" b="-2572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68657" y="5959545"/>
            <a:ext cx="1219610" cy="883882"/>
            <a:chOff x="0" y="0"/>
            <a:chExt cx="1626146" cy="117850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26108" cy="1178560"/>
            </a:xfrm>
            <a:custGeom>
              <a:avLst/>
              <a:gdLst/>
              <a:ahLst/>
              <a:cxnLst/>
              <a:rect l="l" t="t" r="r" b="b"/>
              <a:pathLst>
                <a:path w="1626108" h="1178560">
                  <a:moveTo>
                    <a:pt x="0" y="0"/>
                  </a:moveTo>
                  <a:lnTo>
                    <a:pt x="1626108" y="0"/>
                  </a:lnTo>
                  <a:lnTo>
                    <a:pt x="1626108" y="1178560"/>
                  </a:lnTo>
                  <a:lnTo>
                    <a:pt x="0" y="1178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3570" r="-2" b="-2804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081174" y="2758040"/>
            <a:ext cx="5994088" cy="2183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sz="345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Real-time urban edge-sensing via public bus fleets for road and safety audits</a:t>
            </a:r>
          </a:p>
          <a:p>
            <a:pPr algn="l">
              <a:lnSpc>
                <a:spcPts val="4347"/>
              </a:lnSpc>
            </a:pPr>
            <a:endParaRPr lang="en-US" sz="345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606</Words>
  <Application>Microsoft Office PowerPoint</Application>
  <PresentationFormat>Custom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3" baseType="lpstr">
      <vt:lpstr>Raleway Bold</vt:lpstr>
      <vt:lpstr>Garamond Bold</vt:lpstr>
      <vt:lpstr>Garamond</vt:lpstr>
      <vt:lpstr>Segoe UI Semibold</vt:lpstr>
      <vt:lpstr>Calibri</vt:lpstr>
      <vt:lpstr>Segoe UI Variable Small Semibol</vt:lpstr>
      <vt:lpstr>Times New Roman Bold</vt:lpstr>
      <vt:lpstr>Arial Black</vt:lpstr>
      <vt:lpstr>Arimo</vt:lpstr>
      <vt:lpstr>Arimo Bold</vt:lpstr>
      <vt:lpstr>Aptos Bold</vt:lpstr>
      <vt:lpstr>Roboto Bold</vt:lpstr>
      <vt:lpstr>Arial Bold</vt:lpstr>
      <vt:lpstr>Aptos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26166 Problem Statement Title - AI-Powered Mobile Urban Intelligence Platform Theme- Space Technology PS Category- Software Team Name – Void Matrix</dc:title>
  <dc:creator>Ayush Das</dc:creator>
  <cp:lastModifiedBy>Ayush Das</cp:lastModifiedBy>
  <cp:revision>7</cp:revision>
  <dcterms:created xsi:type="dcterms:W3CDTF">2006-08-16T00:00:00Z</dcterms:created>
  <dcterms:modified xsi:type="dcterms:W3CDTF">2026-09-11T04:26:31Z</dcterms:modified>
  <dc:identifier>DAHUy1Na-mg</dc:identifier>
</cp:coreProperties>
</file>